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1ff3ef1e094b09" /><Relationship Type="http://schemas.openxmlformats.org/officeDocument/2006/relationships/extended-properties" Target="/docProps/app.xml" Id="Rce81905f43034170" /><Relationship Type="http://schemas.openxmlformats.org/officeDocument/2006/relationships/officeDocument" Target="/ppt/presentation.xml" Id="Rbac3d1cbd0bc4c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2313f031014652"/>
  </p:sldMasterIdLst>
  <p:notesMasterIdLst>
    <p:notesMasterId xmlns:r="http://schemas.openxmlformats.org/officeDocument/2006/relationships" r:id="Rfd1adde27fa34f7e"/>
  </p:notesMasterIdLst>
  <p:sldIdLst>
    <p:sldId xmlns:r="http://schemas.openxmlformats.org/officeDocument/2006/relationships" id="256" r:id="R15ba40c9c83144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6ce2d2afc6426a" /><Relationship Type="http://schemas.openxmlformats.org/officeDocument/2006/relationships/slideMaster" Target="/ppt/slideMasters/slideMaster1.xml" Id="R5f2313f031014652" /><Relationship Type="http://schemas.openxmlformats.org/officeDocument/2006/relationships/notesMaster" Target="/ppt/notesMasters/notesMaster1.xml" Id="Rfd1adde27fa34f7e" /><Relationship Type="http://schemas.openxmlformats.org/officeDocument/2006/relationships/presProps" Target="/ppt/presProps.xml" Id="Rfa3256263a394e86" /><Relationship Type="http://schemas.openxmlformats.org/officeDocument/2006/relationships/tableStyles" Target="/ppt/tableStyles.xml" Id="R58f15baef2724594" /><Relationship Type="http://schemas.openxmlformats.org/officeDocument/2006/relationships/slide" Target="/ppt/slides/slide1.xml" Id="R15ba40c9c83144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acc3fde47d4a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cb32e517ed4cba" /><Relationship Type="http://schemas.openxmlformats.org/officeDocument/2006/relationships/notesMaster" Target="/ppt/notesMasters/notesMaster1.xml" Id="R7c9c26db8fc14c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data is sourced from the Madison Dev Tracker API. Status, task counts, dates, and FTE figures are generated from the selected project record at export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6f4c56f1e40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c25e25f2a64b46" /><Relationship Type="http://schemas.openxmlformats.org/officeDocument/2006/relationships/slideLayout" Target="/ppt/slideLayouts/slideLayout1.xml" Id="R16bb20ee49364b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bb20ee49364b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abd5e57cc48be" /><Relationship Type="http://schemas.openxmlformats.org/officeDocument/2006/relationships/notesSlide" Target="/ppt/notesSlides/notesSlide1.xml" Id="R9f9866d19a1744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B085B6F-943C-4C3F-884E-4BF7BB56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186CC-1786-4E32-900B-01535231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A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A3FF"/>
                </a:solidFill>
                <a:latin typeface="Aptos"/>
                <a:ea typeface="Aptos"/>
                <a:cs typeface="Aptos"/>
              </a:rPr>
              <a:t>MADISON DEVELOPMENT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C9F1A-8FCD-499B-A96E-9EF5A3F1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Brand Analysis Tool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93DDE-7F86-4F1D-B923-384D8C35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M88 HQ Systems  ·  John Carlo Manalo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A647B-09E9-4921-B05B-61BB5B38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8625"/>
            <a:ext cx="1562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94EF4-DB8E-4A35-BE90-91287999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67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1568C-1190-42D3-87E7-B547EC64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810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Executive project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E4B15-50D4-4031-95BD-C2B5009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BCCEC-BADA-41F6-AF66-2EE4C582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954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DELIVERY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C7D1A-DCC9-4AD9-B6DB-6642CD8D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24025"/>
            <a:ext cx="1571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8D59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8D597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AE594-B8BB-4AE6-8FC3-83DAD9A5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overall completion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89387-9749-42F5-9EDE-50857A4E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573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733B2-59D8-497F-B106-BB1DB846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240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1/1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59E5D-1223-41BD-BBB7-F8BA5155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479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tasks completed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30A7F-AC46-4B58-9A67-5149E7D5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573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3E6FC-549B-42AD-B685-89B4B8E4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954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CURRENT PHASE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B5237-BCFF-40BB-8E99-5E6A3690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240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8D59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8D597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61755-9B6B-4BA1-B600-D844FD6A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47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Next gate: Hypercare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83FC7-8FA7-4A52-87EA-BF1D98C2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28F25-3AA2-4698-ACD1-B26F8B28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954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DELIVERY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09F2D8-D6EB-4FDC-983A-650FBE84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24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7CEF2-0C8B-4B39-9525-BC3448D8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05075"/>
            <a:ext cx="103822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02A3B-AAD9-4FE1-BA09-358FFF4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05075"/>
            <a:ext cx="103822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DF42D4-3B1A-4408-AC04-0D522DAA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111252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12D03B-DE91-4F8C-A384-886B8F19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765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SDLC DELIVERY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F80E2E-4281-4616-AD21-5B67571D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765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6 of 7 gates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7D7A2-BE7C-4C3E-8158-177F7A7A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9486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2EF0FD-5A64-41B9-A879-E9E492FD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790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5F732F-E792-447A-AB3F-E9841CAE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9525">
            <a:solidFill>
              <a:srgbClr val="48D59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918977-F38C-4EF4-8B00-742CC70D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5E0BB3-082A-4B22-93E1-C1174A61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Data Gathering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582583-938F-4BB3-9311-4911454A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9525">
            <a:solidFill>
              <a:srgbClr val="48D59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EF057F-CE34-4C72-A783-DB349722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359BDD-121E-4AC7-8C16-3B2E6C9E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990AB6-9688-469A-B318-D9CEBFB3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9525">
            <a:solidFill>
              <a:srgbClr val="48D59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93793B-F95A-4FC4-BDA3-570833F3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1AC9F6-CCE5-4A2C-8776-8F2FDFE5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190165-E625-4426-9F45-1668F88F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9525">
            <a:solidFill>
              <a:srgbClr val="48D59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FC4B7E-4915-4672-858B-0AB4AB78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5164CC-61C5-47A3-A1EA-BDF418C5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UAT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28BF2A-4A28-44D8-B961-566214C7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9525">
            <a:solidFill>
              <a:srgbClr val="48D5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A8DDB2-FD3B-4073-A7BF-CC279EB2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B4132A-3704-44B0-BF77-40A2B538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Go-Live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91B573-3D9A-4431-BBF3-A2090662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597"/>
          </a:solidFill>
          <a:ln xmlns:a="http://schemas.openxmlformats.org/drawingml/2006/main" w="9525">
            <a:solidFill>
              <a:srgbClr val="48D59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7227A0-7763-4482-ADD6-279FE9C1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AA92E6-D4E5-4158-B71C-5D4A06C8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8885D3-1036-47DA-AF3A-10DD8635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429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70C384-1D19-458F-A853-54380BAC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4766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4D1D8E-A94E-4AD1-AC50-9AF23E7B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800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Hypercare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FC50F0-7B98-4921-8CA3-DEBF87DE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35052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88E692-85BF-40BD-B7A9-234AEA5D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DATES &amp; GATES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01E56B-AFB0-44E7-B787-010F07CD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Started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88D26C-BB46-4FC2-9902-D88E5A57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958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Sep 14, 2026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D0EA39-6CE2-4F51-B9DE-04F68296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Live since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EB6C87-92A6-4376-BC37-F5FE5B54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244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Sep 28, 2026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09F198-34E1-4E6F-8881-E710FD23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Next phase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252505-01C7-4901-818E-764AD8EF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530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Hypercare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CE9755-A105-4413-BADF-D168CAD0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00550"/>
            <a:ext cx="35052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F59EBA-4190-47D3-9310-C8D65C21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TASK OUTLOOK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8757D5-3082-4B54-AA86-6235B573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9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Pipeline / Dev / UAT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9A5D97-C82F-4229-82B1-E2620745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958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 / 0 / 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488F0D-4B24-4819-BE70-1C491D5C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Live / On hold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8489D7C-4B8E-45ED-A5DF-1F7E6411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244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/ 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C21BF4-47BF-4DFD-B142-00D8FF0B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530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Overdue tasks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4FFCAE-0AF5-41D9-BCD5-90440562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530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154AB9-7FFF-4A7D-B9C8-D0313E5E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81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Next task due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94D505-A396-4F1E-AEF1-88CD406C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816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Not set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10DBCB-1337-43A6-8DC7-DCE5C47A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00550"/>
            <a:ext cx="35052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8164AC2-5C07-4375-8353-8A6FDCF5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91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BUSINESS IMPACT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36121F-98E6-4514-8AED-D4699C92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Time saved / month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E5DE45-B767-4B03-8DF1-FF805CCA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958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500 hrs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DF53582-11AA-4110-A223-E820D30A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244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FTE equivalent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4EB8CCC-AD01-45CA-B7AA-33B8D53A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244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3.13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58EEE8D-96FA-4842-B257-1039AC09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530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Annual cost impact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9C75AC8-199F-4349-9A45-E8AC83D7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3530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PHP 2,812,500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0E519D8-71D4-4438-8632-4CE47C30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11252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41F31"/>
          </a:solidFill>
          <a:ln xmlns:a="http://schemas.openxmlformats.org/drawingml/2006/main" w="9525">
            <a:solidFill>
              <a:srgbClr val="30436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DAB9645-46F4-433A-A610-7A32FD81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531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9"/>
                </a:solidFill>
                <a:latin typeface="Aptos"/>
                <a:ea typeface="Aptos"/>
                <a:cs typeface="Aptos"/>
              </a:rPr>
              <a:t>NEXT ACTION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10BDCD8-208A-47D2-BA40-DB451961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1436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Confirm the next delivery gate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35E5FE4-8181-405F-926E-B2707D67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1112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FB0C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FB0C9"/>
                </a:solidFill>
                <a:latin typeface="Aptos"/>
                <a:ea typeface="Aptos"/>
                <a:cs typeface="Aptos"/>
              </a:rPr>
              <a:t>Prepared Oct 6, 2026  ·  Madison Dev Tracker</a:t>
            </a:r>
          </a:p>
        </p:txBody>
      </p:sp>
    </p:spTree>
    <p:extLst>
      <p:ext uri="{BB962C8B-B14F-4D97-AF65-F5344CB8AC3E}">
        <p14:creationId xmlns:p14="http://schemas.microsoft.com/office/powerpoint/2010/main" val="1880299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2026-10-06T02:02:33.8810000Z</dcterms:created>
  <dcterms:modified xsi:type="dcterms:W3CDTF">2026-10-06T02:02:33.8810000Z</dcterms:modified>
</coreProperties>
</file>